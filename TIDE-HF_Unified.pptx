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11887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TIDE-HF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23317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Trajectory Integrated Decision Engine for Heart Failure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48640" y="2926080"/>
            <a:ext cx="4572000" cy="0"/>
          </a:xfrm>
          <a:prstGeom prst="straightConnector1">
            <a:avLst/>
          </a:prstGeom>
          <a:noFill/>
          <a:ln cap="flat" cmpd="sng" w="31750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548640" y="31089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Chronic Heart Failure Medication Titration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Max Pierson</a:t>
            </a:r>
            <a:r>
              <a:rPr b="0" i="0" lang="en-US" sz="16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6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Chinmaya Sri Rama Seshu Pasupuleti</a:t>
            </a:r>
            <a:r>
              <a:rPr b="0" i="0" lang="en-US" sz="16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6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Krishna Chaitanya Bhupathi Raju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5262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Team ROC  ·  MS Data Science, University at Buffalo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892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Client: QAS.AI  ·  Supervisor: Dr. Ciprian Ionita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Heart failure is the silent epidemic.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HFrEF patients need continuous medication titration after discharge.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2103120"/>
            <a:ext cx="3611880" cy="36576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85800" y="233172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26M+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85800" y="365760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Americans with CHF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85800" y="429768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#1 cause of hospitalisation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in patients over 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25112" y="2103120"/>
            <a:ext cx="3611880" cy="36576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325112" y="2103120"/>
            <a:ext cx="36118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507992" y="233172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07992" y="365760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Readmitted within 6 months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07992" y="429768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$30 billion annual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to US healthcare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47304" y="2103120"/>
            <a:ext cx="3611880" cy="36576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147304" y="2103120"/>
            <a:ext cx="36118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330184" y="2331720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&lt;25%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330184" y="365760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 optimal GDMT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330184" y="429768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Significant gap between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guidelines and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5989320"/>
            <a:ext cx="11292840" cy="41148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48640" y="6025896"/>
            <a:ext cx="11109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HFrEF patients need continuous personalised medication titration after discharge — current systems fail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GUIDELINE-DIRECTED MEDICAL THERAPY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Four foundational drug classes — Day 1.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All four classes initiated simultaneously per STRONG-HF.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0" y="1874520"/>
            <a:ext cx="2697480" cy="45262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02920" y="1874520"/>
            <a:ext cx="26974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731520" y="2057400"/>
            <a:ext cx="2240280" cy="4572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31520" y="2075688"/>
            <a:ext cx="2240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31520" y="26974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CONTRAINDICATIONS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77240" y="2926080"/>
            <a:ext cx="2148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Angioedema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Pregnant / nursing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Liver dysfunction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ACEi within 36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42976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77240" y="45262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Hypotension &lt; 90/60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Creatinine &gt; 3 mg/dL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Potassium &gt; 5.5 mEq/L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31520" y="5989320"/>
            <a:ext cx="2240280" cy="36576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31520" y="599846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May reduce diuretic needs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64992" y="1874520"/>
            <a:ext cx="2697480" cy="45262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364992" y="187452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593592" y="2057400"/>
            <a:ext cx="2240280" cy="4572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593592" y="2075688"/>
            <a:ext cx="2240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Beta-Blocker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593592" y="26974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CONTRAINDICATIONS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39312" y="2926080"/>
            <a:ext cx="2148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&lt; 50–60 BPM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bronchospasm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2nd/3rd heart block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Cardiogenic shock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593592" y="42976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39312" y="45262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&gt; 110 / SBP &lt; 120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Hypotension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Worsening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593592" y="5989320"/>
            <a:ext cx="2240280" cy="36576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593592" y="599846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Prioritise titration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227064" y="1874520"/>
            <a:ext cx="2697480" cy="45262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227064" y="187452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55664" y="2057400"/>
            <a:ext cx="2240280" cy="457200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55664" y="2075688"/>
            <a:ext cx="2240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55664" y="26974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CONTRAINDICATIONS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501384" y="2926080"/>
            <a:ext cx="2148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Hyperkalemia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Renal insufficiency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Creatinine &gt; 2.0 (M) / 1.8 (F)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55664" y="42976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501384" y="45262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5.5–5.9 → 50% dose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&gt; 6.0 → stop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when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455664" y="5989320"/>
            <a:ext cx="2240280" cy="36576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F4B8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455664" y="599846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Check K+ at 1wk · 1mo · 3mo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089136" y="1874520"/>
            <a:ext cx="2697480" cy="45262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089136" y="1874520"/>
            <a:ext cx="26974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317736" y="2057400"/>
            <a:ext cx="2240280" cy="457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317736" y="2075688"/>
            <a:ext cx="2240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SGLT2i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317736" y="26974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CONTRAINDICATIONS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363456" y="2926080"/>
            <a:ext cx="21488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eGFR &lt; 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Pregnant / nursing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317736" y="4297680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363456" y="4526280"/>
            <a:ext cx="2148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eGFR decline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Ketoacidosis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depletion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317736" y="5989320"/>
            <a:ext cx="2240280" cy="36576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9317736" y="599846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Initial dose = target dose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SOLUTION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From daily monitoring to clinical decision support.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5-stage intelligent pipeline.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1965960"/>
            <a:ext cx="2148840" cy="41148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502920" y="1965960"/>
            <a:ext cx="21488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188720" y="2286000"/>
            <a:ext cx="777240" cy="777240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188720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0080" y="32918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0080" y="4297680"/>
            <a:ext cx="1874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HR/BP, SpO2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ECG, Weight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1–2× daily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798064" y="1965960"/>
            <a:ext cx="2148840" cy="41148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2798064" y="1965960"/>
            <a:ext cx="21488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483864" y="2286000"/>
            <a:ext cx="777240" cy="777240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483864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935224" y="32918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935224" y="4297680"/>
            <a:ext cx="1874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Weekly 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Boolean symptom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093208" y="1965960"/>
            <a:ext cx="2148840" cy="41148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093208" y="1965960"/>
            <a:ext cx="214884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779008" y="2286000"/>
            <a:ext cx="777240" cy="777240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779008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230368" y="32918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EHR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230368" y="4297680"/>
            <a:ext cx="1874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Labs, 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Meds and doses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Patient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388352" y="1965960"/>
            <a:ext cx="2148840" cy="41148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388352" y="1965960"/>
            <a:ext cx="214884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074152" y="2286000"/>
            <a:ext cx="777240" cy="777240"/>
          </a:xfrm>
          <a:prstGeom prst="ellipse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074152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525512" y="32918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 (GOFAI)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525512" y="4297680"/>
            <a:ext cx="1874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GDMT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Conditional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Dose adjustments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683496" y="1965960"/>
            <a:ext cx="2148840" cy="41148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683496" y="1965960"/>
            <a:ext cx="214884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369296" y="2286000"/>
            <a:ext cx="777240" cy="77724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369296" y="22860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820656" y="329184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Clinician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820656" y="4297680"/>
            <a:ext cx="1874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Prescription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Lab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5989320"/>
            <a:ext cx="11292840" cy="41148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48640" y="6025896"/>
            <a:ext cx="11109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Future: LLM layer to communicate decisions to patients — describe side effects and lifestyle recommendations.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DATA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What data do we need?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Two categories of data are required to build the TIDE-HF decision engine.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02920" y="1965960"/>
            <a:ext cx="5349240" cy="42062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02920" y="1965960"/>
            <a:ext cx="53492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02920" y="1965960"/>
            <a:ext cx="5349240" cy="50292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02920" y="196596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Vitals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31520" y="2932938"/>
            <a:ext cx="237744" cy="237744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143000" y="2651760"/>
            <a:ext cx="4572000" cy="401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143000" y="2980487"/>
            <a:ext cx="4572000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Cardiac rhythm — 12-lead waveform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1520" y="3824478"/>
            <a:ext cx="237744" cy="237744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143000" y="3543300"/>
            <a:ext cx="4572000" cy="401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Blood Pressure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143000" y="3872027"/>
            <a:ext cx="4572000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Systolic &amp; diastolic — mmHg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" y="4716018"/>
            <a:ext cx="237744" cy="237744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143000" y="4434840"/>
            <a:ext cx="4572000" cy="401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Heart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143000" y="4763567"/>
            <a:ext cx="4572000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Beats per minute — BPM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31520" y="5607558"/>
            <a:ext cx="237744" cy="237744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143000" y="5326380"/>
            <a:ext cx="4572000" cy="401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Oxygen Levels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43000" y="5655107"/>
            <a:ext cx="4572000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SpO₂ saturation — 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55080" y="1965960"/>
            <a:ext cx="5349240" cy="42062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355080" y="1965960"/>
            <a:ext cx="534924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355080" y="1965960"/>
            <a:ext cx="5349240" cy="50292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355080" y="196596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GDMT Medications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83680" y="2843784"/>
            <a:ext cx="237744" cy="237744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995160" y="2651760"/>
            <a:ext cx="4572000" cy="320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Beta-Blockers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95160" y="2905597"/>
            <a:ext cx="4572000" cy="39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Bisoprolol · Carvedilol · Metoprolol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583680" y="3557016"/>
            <a:ext cx="237744" cy="237744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995160" y="3364992"/>
            <a:ext cx="4572000" cy="320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RAAS Inhibitors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995160" y="3618829"/>
            <a:ext cx="4572000" cy="39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ACEi · ARB · ARNi (Entresto)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583680" y="4270248"/>
            <a:ext cx="237744" cy="237744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995160" y="4078224"/>
            <a:ext cx="4572000" cy="320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Diuretics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995160" y="4332061"/>
            <a:ext cx="4572000" cy="39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Furosemide · Torsemide · Bumetanide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83680" y="4983480"/>
            <a:ext cx="237744" cy="237744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995160" y="4791456"/>
            <a:ext cx="4572000" cy="320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SGLT-2 Inhibitors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995160" y="5045293"/>
            <a:ext cx="4572000" cy="39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Empagliflozin · Dapagliflozin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83680" y="5696712"/>
            <a:ext cx="237744" cy="237744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95160" y="5504688"/>
            <a:ext cx="4572000" cy="320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995160" y="5758525"/>
            <a:ext cx="4572000" cy="392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Spironolactone · Eplerenone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What is MIMIC?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02920" y="1691640"/>
            <a:ext cx="11292840" cy="64008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2920" y="1691640"/>
            <a:ext cx="11292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MIMIC  =  Medical Information Mart for Intensive Care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02920" y="2606040"/>
            <a:ext cx="5577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02920" y="2606040"/>
            <a:ext cx="55778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85800" y="2697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HOSPITAL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85800" y="29352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Beth Israel Deaconess Medical Center — Boston, 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217920" y="2606040"/>
            <a:ext cx="5577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217920" y="2606040"/>
            <a:ext cx="557784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400800" y="269748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TIME PERIOD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00800" y="29352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2008 — 2022   (14 years of patient records)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2920" y="3474720"/>
            <a:ext cx="5577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02920" y="3474720"/>
            <a:ext cx="557784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85800" y="356616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85800" y="38039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546,028 unique patients admitted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217920" y="3474720"/>
            <a:ext cx="5577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217920" y="3474720"/>
            <a:ext cx="557784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400800" y="356616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MAINTAINED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0" y="38039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Massachusetts Institute of Technology (MIT)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02920" y="4526280"/>
            <a:ext cx="11292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Every patient record includes: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02920" y="493776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02920" y="493776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685800" y="4937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364992" y="493776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364992" y="4937760"/>
            <a:ext cx="269748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547872" y="4937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227064" y="493776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227064" y="4937760"/>
            <a:ext cx="26974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409944" y="4937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089136" y="493776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089136" y="493776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9272016" y="4937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02920" y="544068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02920" y="544068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685800" y="5440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364992" y="544068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364992" y="5440680"/>
            <a:ext cx="26974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3547872" y="5440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Doctors' Notes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227064" y="544068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227064" y="5440680"/>
            <a:ext cx="26974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409944" y="5440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 stays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089136" y="5440680"/>
            <a:ext cx="2697480" cy="4114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9089136" y="544068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9272016" y="5440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ICU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7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MIMIC-IV-ECG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Open-access ECG waveform dataset.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Directly linked to MIMIC-IV clinical records via subject_id.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02920" y="2057400"/>
            <a:ext cx="2697480" cy="13258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02920" y="2057400"/>
            <a:ext cx="269748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94360" y="2194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800,035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94360" y="27889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364992" y="2057400"/>
            <a:ext cx="2697480" cy="13258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3364992" y="205740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456432" y="2194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160K+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456432" y="27889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27064" y="2057400"/>
            <a:ext cx="2697480" cy="13258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227064" y="205740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318504" y="2194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318504" y="27889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Leads 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9089136" y="2057400"/>
            <a:ext cx="2697480" cy="13258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9089136" y="2057400"/>
            <a:ext cx="26974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9180576" y="2194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500 Hz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9180576" y="278892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02920" y="3657600"/>
            <a:ext cx="11292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02920" y="3657600"/>
            <a:ext cx="112928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40080" y="37307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FBA9D"/>
                </a:solidFill>
                <a:latin typeface="Courier New"/>
                <a:ea typeface="Courier New"/>
                <a:cs typeface="Courier New"/>
                <a:sym typeface="Courier New"/>
              </a:rPr>
              <a:t>record_list.csv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526280" y="373075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800,035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40080" y="4041648"/>
            <a:ext cx="1101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Index of all ECG recordings — subject_id, study_id, ecg_time, waveform file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02920" y="4526280"/>
            <a:ext cx="11292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02920" y="4526280"/>
            <a:ext cx="1129284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40080" y="45994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machine_measurements.csv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52628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800,035 × 33 cols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40080" y="4910328"/>
            <a:ext cx="1101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Automated measurements: RR interval, QRS duration, P/QRS/T axes, HR, PR interval + 15 report text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02920" y="5394960"/>
            <a:ext cx="11292840" cy="7315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502920" y="5394960"/>
            <a:ext cx="1129284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40080" y="54681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4B821"/>
                </a:solidFill>
                <a:latin typeface="Courier New"/>
                <a:ea typeface="Courier New"/>
                <a:cs typeface="Courier New"/>
                <a:sym typeface="Courier New"/>
              </a:rPr>
              <a:t>waveform_note_links.csv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526280" y="54681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609,272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40080" y="5779008"/>
            <a:ext cx="1101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Links ECG study IDs to clinical discharge notes — enables cross-referencing waveforms with clinical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8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DATA EXTRACTION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Read directly from local MIMIC-IV files.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From raw clinical tables to one-row-per-visit master.csv.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02920" y="196596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02920" y="1965960"/>
            <a:ext cx="36118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77240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1600200" y="2240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1600200" y="301752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14,729 pure HFrEF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325112" y="196596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325112" y="1965960"/>
            <a:ext cx="36118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4599432" y="2240280"/>
            <a:ext cx="685800" cy="685800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4599432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422392" y="2240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MIMIC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422392" y="301752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patients, diagnoses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labs, prescriptions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8147304" y="196596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147304" y="1965960"/>
            <a:ext cx="36118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8421624" y="2240280"/>
            <a:ext cx="685800" cy="685800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8421624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9244584" y="2240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 &amp;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9244584" y="301752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ICD codes →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lab thresholds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02920" y="411480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02920" y="4114800"/>
            <a:ext cx="36118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777240" y="4389120"/>
            <a:ext cx="685800" cy="685800"/>
          </a:xfrm>
          <a:prstGeom prst="ellipse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777240" y="4389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600200" y="438912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600200" y="51663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ICU + chartevents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325112" y="411480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325112" y="4114800"/>
            <a:ext cx="361188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599432" y="4389120"/>
            <a:ext cx="685800" cy="6858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4599432" y="4389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5422392" y="438912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ECG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422392" y="51663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machine_measurements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computed flags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8147304" y="4114800"/>
            <a:ext cx="3611880" cy="19659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8147304" y="4114800"/>
            <a:ext cx="36118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8421624" y="4389120"/>
            <a:ext cx="685800" cy="68580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8421624" y="4389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9244584" y="438912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9244584" y="516636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Master.csv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One row per Visit · all joined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COHORT CONSTRUCTION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HFrEF cohort construction.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Filtered 546,028 patients down to the relevant HFrEF cohort using ICD codes.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02920" y="1965960"/>
            <a:ext cx="2697480" cy="12801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502920" y="1965960"/>
            <a:ext cx="2697480" cy="54864"/>
          </a:xfrm>
          <a:prstGeom prst="rect">
            <a:avLst/>
          </a:prstGeom>
          <a:solidFill>
            <a:srgbClr val="95A5B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594360" y="21031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546,028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94360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MIMIC-IV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Total Patients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3364992" y="1965960"/>
            <a:ext cx="2697480" cy="12801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3364992" y="1965960"/>
            <a:ext cx="26974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3456432" y="21031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14,729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456432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HFrEF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(19 ICD 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6227064" y="1965960"/>
            <a:ext cx="2697480" cy="12801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227064" y="196596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318504" y="21031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61,353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318504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Expanded CHF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(113 ICD 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9089136" y="1965960"/>
            <a:ext cx="2697480" cy="12801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9089136" y="196596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9180576" y="21031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9180576" y="26517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Comorbidity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02920" y="3429000"/>
            <a:ext cx="3611880" cy="28803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02920" y="3429000"/>
            <a:ext cx="36118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02920" y="3429000"/>
            <a:ext cx="3611880" cy="4572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502920" y="34290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HFrEF ICD-10 (11 codes)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85800" y="4023360"/>
            <a:ext cx="3246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  — Heart failure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I5020 — Unspecified systolic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I5021 — Acute systolic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I5022 — Chronic systolic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I5023 — Acute-on-chronic systolic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I5040–I5043 — Combined HF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325112" y="3429000"/>
            <a:ext cx="3611880" cy="28803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4325112" y="3429000"/>
            <a:ext cx="36118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4325112" y="3429000"/>
            <a:ext cx="3611880" cy="457200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4325112" y="34290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Adverse Effect Classes (6 groups)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507992" y="4023360"/>
            <a:ext cx="3246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Chronic Kidney Disease (46 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Hyperkalemia (E875, E8751, E8759)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Hypotension (I951–R030, 9 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Edema (R609, R6000–R6009)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Bradycardia (R001)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Ketoacidosis (14 codes)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8147304" y="3429000"/>
            <a:ext cx="3611880" cy="288036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8147304" y="3429000"/>
            <a:ext cx="36118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147304" y="3429000"/>
            <a:ext cx="3611880" cy="457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8147304" y="342900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330184" y="4023360"/>
            <a:ext cx="3246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Healthy = HFrEF + NO comorbidities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CKD = ICD code OR Creatinine &gt; 3.0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Hyperkalemia = ICD OR K⁺ &gt; 5.5 mEq/L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Hypotension = ICD OR SBP &lt; 90 mmHg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Bradycardia = ICD OR HR &lt; 50 BPM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Ketoacidosis / Edema = ICD code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10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FIRST CLASSIFIER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Why visit-level features were a dead end.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Random forest on visit-level features couldn't separate the classes.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02920" y="1965960"/>
            <a:ext cx="6766560" cy="42062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502920" y="1965960"/>
            <a:ext cx="676656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85800" y="2103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Setup &amp; finding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777240" y="2560320"/>
            <a:ext cx="6309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filtered to strict CHF cohort.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on visit-level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◦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feature strategies — earliest, median, full summary stats — all performed similarly.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 success on bradycardia + ketoacidosis. Most other classes ≈ coin flip.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777240" y="4160520"/>
            <a:ext cx="6309360" cy="187452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914400" y="425196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914400" y="448056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MIMIC vital trajectories come from ER/ICU encounters — not home monitoring.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914400" y="4937760"/>
            <a:ext cx="6126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"Healthy" and adverse-effect classes overlap heavily on every vital we tracked. Visit-level features were a dead end — we needed synthetic trajectories.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7543800" y="1965960"/>
            <a:ext cx="425196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7543800" y="1965960"/>
            <a:ext cx="425196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7680960" y="21031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KDE — Healthy vs. has_hypotension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kde_chart.png" id="398" name="Google Shape;3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2468880"/>
            <a:ext cx="39776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2"/>
          <p:cNvSpPr/>
          <p:nvPr/>
        </p:nvSpPr>
        <p:spPr>
          <a:xfrm>
            <a:off x="7680960" y="5486400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Distributions overlap → low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11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THE PIVOT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Synthetic patient-weeks anchored in real MIMIC contexts.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Each row = one week of twice-daily vitals + ECG (14 timepoints) for a single patient context.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02920" y="2057400"/>
            <a:ext cx="2697480" cy="32918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502920" y="2057400"/>
            <a:ext cx="269748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731520" y="2240280"/>
            <a:ext cx="594360" cy="594360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73152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141732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731520" y="301752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Balanced over the 11 adverse-effect flags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Forces enough positives per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364992" y="2057400"/>
            <a:ext cx="2697480" cy="32918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3364992" y="2057400"/>
            <a:ext cx="269748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3593592" y="2240280"/>
            <a:ext cx="594360" cy="594360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3593592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279392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3593592" y="301752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MIMIC visit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Demographics, baseline labs, GDMT prescription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6227064" y="2057400"/>
            <a:ext cx="2697480" cy="32918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6227064" y="2057400"/>
            <a:ext cx="269748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6455664" y="2240280"/>
            <a:ext cx="594360" cy="594360"/>
          </a:xfrm>
          <a:prstGeom prst="ellipse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455664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7141464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Synthesize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455664" y="301752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vital + ECG timepoints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Trajectory consistent with sampled labels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9089136" y="2057400"/>
            <a:ext cx="2697480" cy="32918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9089136" y="2057400"/>
            <a:ext cx="26974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9317736" y="2240280"/>
            <a:ext cx="594360" cy="59436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9317736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10003536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confirm-labs draw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9317736" y="301752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Mirror baseline labs 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End-of-week values where applicable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502920" y="5532120"/>
            <a:ext cx="11292840" cy="82296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640080" y="5605272"/>
            <a:ext cx="11018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Default training set: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 weeks</a:t>
            </a:r>
            <a:r>
              <a:rPr b="0" i="0" lang="en-US" sz="13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  ·  Generation takes ~90s in mimic mode.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640080" y="5925312"/>
            <a:ext cx="11018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000"/>
              <a:buFont typeface="Courier New"/>
              <a:buNone/>
            </a:pPr>
            <a:r>
              <a:rPr b="0" i="1" lang="en-US" sz="1000" u="none" cap="none" strike="noStrike">
                <a:solidFill>
                  <a:srgbClr val="1FBA9D"/>
                </a:solidFill>
                <a:latin typeface="Courier New"/>
                <a:ea typeface="Courier New"/>
                <a:cs typeface="Courier New"/>
                <a:sym typeface="Courier New"/>
              </a:rPr>
              <a:t>synthetic_CHF_visits_v2.parquet (135 MB MIMIC-seeded contexts) → synthetic_data_weeks.parquet → 108-feature vector → 11 LightGBM classifier heads.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CLASSIFIER 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11 LightGBM heads on a 108-feature vector.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One classifier head per adverse-effect flag.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502920" y="1965960"/>
            <a:ext cx="5349240" cy="42062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502920" y="1965960"/>
            <a:ext cx="53492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502920" y="1965960"/>
            <a:ext cx="5349240" cy="4572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502920" y="196596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blocks (108 total)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731520" y="2770632"/>
            <a:ext cx="164592" cy="164592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1005840" y="260604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Per-vital channel statistics — 40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1005840" y="297180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5 channels × 8 stats (mean/min/max/range/first/last/slope/n_missing)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731520" y="3639312"/>
            <a:ext cx="164592" cy="164592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1005840" y="34747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Per-ECG-scalar statistics — 18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1005840" y="384048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6 channels × 3 stats (mean/min/max)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731520" y="4507992"/>
            <a:ext cx="164592" cy="164592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1005840" y="43434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ECG pattern + quality —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1005840" y="470916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T-peaked, rhythm one-hot, signal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731520" y="5376672"/>
            <a:ext cx="164592" cy="164592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1005840" y="52120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Demographics + medication state — 34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1005840" y="557784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Age, sex, per-class on/off, dose, target, 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6355080" y="1965960"/>
            <a:ext cx="5349240" cy="420624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6355080" y="1965960"/>
            <a:ext cx="534924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6355080" y="1965960"/>
            <a:ext cx="5349240" cy="4572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6355080" y="196596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Per-flag test-set AUROC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446520" y="2542032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583680" y="254203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hypotension_detected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10698480" y="254203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6583680" y="285292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severe_hypotension_detected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10698480" y="2852928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6446520" y="3163824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6583680" y="316382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bradycardia_detected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10698480" y="3163824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6583680" y="347472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severe_bradycardia_detected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10698480" y="347472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6446520" y="3785616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6583680" y="378561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volume_depletion_detected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10698480" y="3785616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583680" y="409651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worsening_HF_detected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10698480" y="409651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0.89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446520" y="4407408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6583680" y="4407408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hyperkalemia_detected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10698480" y="4407408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0.84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6583680" y="4718304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renal_dysfunction_detected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10698480" y="4718304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6446520" y="5029200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6583680" y="502920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hyponatremia_detected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10698480" y="5029200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583680" y="534009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metabolic_acidosis_detected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10698480" y="5340096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6446520" y="5650992"/>
            <a:ext cx="5166360" cy="310896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583680" y="5650992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any_emergency_flag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10698480" y="56509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0.96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Titration engine: lab gating + AE resolver.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Every action carries a reason — auditable and contraindication-aware.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502920" y="1965960"/>
            <a:ext cx="640080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502920" y="1965960"/>
            <a:ext cx="640080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640080" y="21031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Figure 1 — Titration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titration_logic.png" id="511" name="Google Shape;5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423160"/>
            <a:ext cx="58521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5"/>
          <p:cNvSpPr/>
          <p:nvPr/>
        </p:nvSpPr>
        <p:spPr>
          <a:xfrm>
            <a:off x="7178040" y="1965960"/>
            <a:ext cx="4572000" cy="43891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7178040" y="1965960"/>
            <a:ext cx="457200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7406640" y="2148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Decision points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7406640" y="2770632"/>
            <a:ext cx="164592" cy="164592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7680960" y="2651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Global stop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7680960" y="294436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Severe hypotension or brady, K &gt; 6, emergency. All GDMT held. Escalate.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7406640" y="3685032"/>
            <a:ext cx="164592" cy="164592"/>
          </a:xfrm>
          <a:prstGeom prst="ellipse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7680960" y="35661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Suspected lab AE, no labs yet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7680960" y="385876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 gated classes, set awaiting_labs, request labs.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7406640" y="4599432"/>
            <a:ext cx="164592" cy="164592"/>
          </a:xfrm>
          <a:prstGeom prst="ellipse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7680960" y="44805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6CFD"/>
                </a:solidFill>
                <a:latin typeface="Calibri"/>
                <a:ea typeface="Calibri"/>
                <a:cs typeface="Calibri"/>
                <a:sym typeface="Calibri"/>
              </a:rPr>
              <a:t>Confirmed AE (labs back)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7680960" y="477316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 resolver hold/decreases the offending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7406640" y="5513832"/>
            <a:ext cx="164592" cy="164592"/>
          </a:xfrm>
          <a:prstGeom prst="ellipse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7680960" y="5394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Otherwise → strategy applier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7680960" y="5687568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Per-class action: maintain · increase · decrease · hold.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ONCE IT'S SAFE TO TITRATE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Four selectable strategies.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Each strategy returns a per-class change record with explicit reasoning.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502920" y="1965960"/>
            <a:ext cx="11292840" cy="41148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6"/>
          <p:cNvSpPr/>
          <p:nvPr/>
        </p:nvSpPr>
        <p:spPr>
          <a:xfrm>
            <a:off x="502920" y="1965960"/>
            <a:ext cx="1129284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640080" y="19659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3200400" y="19659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BEHAVIOR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8869680" y="1965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821"/>
                </a:solidFill>
                <a:latin typeface="Calibri"/>
                <a:ea typeface="Calibri"/>
                <a:cs typeface="Calibri"/>
                <a:sym typeface="Calibri"/>
              </a:rPr>
              <a:t>RATIONALE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502920" y="2468880"/>
            <a:ext cx="11292840" cy="749808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502920" y="2468880"/>
            <a:ext cx="1129284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640080" y="2468880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CFD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6F6CFD"/>
                </a:solidFill>
                <a:latin typeface="Courier New"/>
                <a:ea typeface="Courier New"/>
                <a:cs typeface="Courier New"/>
                <a:sym typeface="Courier New"/>
              </a:rPr>
              <a:t>traditional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3200400" y="2542032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new class per week, in the order RAAS → BB → MRA → SGLT2i → loop. Single-rung steps.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8869680" y="2542032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Closest to conservative ladder (Emory 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502920" y="3310128"/>
            <a:ext cx="11292840" cy="749808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6"/>
          <p:cNvSpPr/>
          <p:nvPr/>
        </p:nvSpPr>
        <p:spPr>
          <a:xfrm>
            <a:off x="502920" y="3310128"/>
            <a:ext cx="1129284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6"/>
          <p:cNvSpPr/>
          <p:nvPr/>
        </p:nvSpPr>
        <p:spPr>
          <a:xfrm>
            <a:off x="640080" y="3310128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FBA9D"/>
                </a:solidFill>
                <a:latin typeface="Courier New"/>
                <a:ea typeface="Courier New"/>
                <a:cs typeface="Courier New"/>
                <a:sym typeface="Courier New"/>
              </a:rPr>
              <a:t>strong_hf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3200400" y="3383280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eligible classes started simultaneously. Double-rung up-titration.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8869680" y="3383280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100% of target in 2 weeks (STRONG-HF, Lancet 2022)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502920" y="4151376"/>
            <a:ext cx="11292840" cy="749808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502920" y="4151376"/>
            <a:ext cx="11292840" cy="54864"/>
          </a:xfrm>
          <a:prstGeom prst="rect">
            <a:avLst/>
          </a:prstGeom>
          <a:solidFill>
            <a:srgbClr val="F4B82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"/>
          <p:cNvSpPr/>
          <p:nvPr/>
        </p:nvSpPr>
        <p:spPr>
          <a:xfrm>
            <a:off x="640080" y="4151376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82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4B821"/>
                </a:solidFill>
                <a:latin typeface="Courier New"/>
                <a:ea typeface="Courier New"/>
                <a:cs typeface="Courier New"/>
                <a:sym typeface="Courier New"/>
              </a:rPr>
              <a:t>rapid_sequence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3200400" y="4224528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eligible classes started simultaneously. Single-rung steps.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8869680" y="4224528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Greene 2021 compromise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502920" y="4992624"/>
            <a:ext cx="11292840" cy="749808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502920" y="4992624"/>
            <a:ext cx="1129284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640080" y="4992624"/>
            <a:ext cx="23774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2ECC71"/>
                </a:solidFill>
                <a:latin typeface="Courier New"/>
                <a:ea typeface="Courier New"/>
                <a:cs typeface="Courier New"/>
                <a:sym typeface="Courier New"/>
              </a:rPr>
              <a:t>sglt_mra_first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3200400" y="5065776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SGLT2i + MRA. Phase 2: ARNi + beta-blocker.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8869680" y="5065776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Built around safest tolerability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457200" y="5989320"/>
            <a:ext cx="11292840" cy="41148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548640" y="6025896"/>
            <a:ext cx="11109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Per-class change record: action · current dose · new dose · dose ratio · free-text reason for the patient-facing explanation.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7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TIDE-HF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Decisions you can ask questions to.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A clinical co-pilot — grounded in the engine, AHA 2022, STRONG-HF, and drug monographs.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502920" y="1965960"/>
            <a:ext cx="5486400" cy="38862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7"/>
          <p:cNvSpPr/>
          <p:nvPr/>
        </p:nvSpPr>
        <p:spPr>
          <a:xfrm>
            <a:off x="502920" y="1965960"/>
            <a:ext cx="548640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502920" y="1965960"/>
            <a:ext cx="5486400" cy="4572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502920" y="19659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MODE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777240" y="2560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Plain-language answers, in their words.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777240" y="301752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914400" y="30175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do my heart-failure medications do?"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777240" y="365760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914400" y="36576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"Why was my dose changed this visit?"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/>
          <p:nvPr/>
        </p:nvSpPr>
        <p:spPr>
          <a:xfrm>
            <a:off x="777240" y="429768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914400" y="42976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"What symptoms should I watch for this week?"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777240" y="493776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914400" y="49377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"When should I call the doctor?"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6355080" y="1965960"/>
            <a:ext cx="5486400" cy="388620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6355080" y="1965960"/>
            <a:ext cx="5486400" cy="54864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6355080" y="1965960"/>
            <a:ext cx="5486400" cy="457200"/>
          </a:xfrm>
          <a:prstGeom prst="rect">
            <a:avLst/>
          </a:prstGeom>
          <a:solidFill>
            <a:srgbClr val="6F6CF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7"/>
          <p:cNvSpPr/>
          <p:nvPr/>
        </p:nvSpPr>
        <p:spPr>
          <a:xfrm>
            <a:off x="6355080" y="19659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CLINICIAN MODE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6629400" y="2560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Engine-grounded, citation-backed reasoning.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6629400" y="301752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6766560" y="30175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"Why did the engine hold the MRA this week?"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6629400" y="365760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6766560" y="36576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"Show the contraindication trail for ARNI."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629400" y="429768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6766560" y="429768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"Which AE flag triggered global_stop?"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6629400" y="4937760"/>
            <a:ext cx="4937760" cy="502920"/>
          </a:xfrm>
          <a:prstGeom prst="rect">
            <a:avLst/>
          </a:prstGeom>
          <a:solidFill>
            <a:srgbClr val="1B3556"/>
          </a:solidFill>
          <a:ln cap="flat" cmpd="sng" w="9525">
            <a:solidFill>
              <a:srgbClr val="6F6C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6766560" y="49377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"Cite the AHA 2022 source for this dose change."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457200" y="5989320"/>
            <a:ext cx="11292840" cy="41148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548640" y="6025896"/>
            <a:ext cx="11109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Same engine, two voices. The patient gets reassurance. The clinician gets receipts.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8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TIDE-HF — Trajectory Integrated Decision Engine for Heart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16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457200" y="68580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End-to-end solution.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457200" y="14173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Streamlit UI tying the full pipeline to a clinician-facing review screen.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502920" y="1965960"/>
            <a:ext cx="7772400" cy="4389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502920" y="1965960"/>
            <a:ext cx="777240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8"/>
          <p:cNvSpPr/>
          <p:nvPr/>
        </p:nvSpPr>
        <p:spPr>
          <a:xfrm>
            <a:off x="640080" y="210312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Figure 2 — TIDE-HF Phase 1A — full solution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solution_flow.png" id="618" name="Google Shape;6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423160"/>
            <a:ext cx="74980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8"/>
          <p:cNvSpPr/>
          <p:nvPr/>
        </p:nvSpPr>
        <p:spPr>
          <a:xfrm>
            <a:off x="8458200" y="1965960"/>
            <a:ext cx="3383280" cy="438912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8458200" y="1965960"/>
            <a:ext cx="3383280" cy="54864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8686800" y="21488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STREAMLIT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8686800" y="2468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demo shows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8686800" y="317296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"/>
          <p:cNvSpPr/>
          <p:nvPr/>
        </p:nvSpPr>
        <p:spPr>
          <a:xfrm>
            <a:off x="9006840" y="3063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a preset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8686800" y="367588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8"/>
          <p:cNvSpPr/>
          <p:nvPr/>
        </p:nvSpPr>
        <p:spPr>
          <a:xfrm>
            <a:off x="9006840" y="35661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EHR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8686800" y="417880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8"/>
          <p:cNvSpPr/>
          <p:nvPr/>
        </p:nvSpPr>
        <p:spPr>
          <a:xfrm>
            <a:off x="9006840" y="40690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classifier flags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8686800" y="468172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8"/>
          <p:cNvSpPr/>
          <p:nvPr/>
        </p:nvSpPr>
        <p:spPr>
          <a:xfrm>
            <a:off x="9006840" y="45720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 + strategy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8686800" y="518464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8"/>
          <p:cNvSpPr/>
          <p:nvPr/>
        </p:nvSpPr>
        <p:spPr>
          <a:xfrm>
            <a:off x="9006840" y="50749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Order-labs / global-stop banner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8686800" y="5687568"/>
            <a:ext cx="201168" cy="201168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8"/>
          <p:cNvSpPr/>
          <p:nvPr/>
        </p:nvSpPr>
        <p:spPr>
          <a:xfrm>
            <a:off x="9006840" y="55778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Patient-friendly summary (RAG)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9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9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6F6CFD">
              <a:alpha val="2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10515600" y="3931920"/>
            <a:ext cx="2286000" cy="2286000"/>
          </a:xfrm>
          <a:prstGeom prst="ellipse">
            <a:avLst/>
          </a:prstGeom>
          <a:solidFill>
            <a:srgbClr val="1FBA9D">
              <a:alpha val="2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548640" y="11887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8400"/>
              <a:buFont typeface="Calibri"/>
              <a:buNone/>
            </a:pPr>
            <a:r>
              <a:rPr b="1" i="0" lang="en-US" sz="8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19"/>
          <p:cNvCxnSpPr/>
          <p:nvPr/>
        </p:nvCxnSpPr>
        <p:spPr>
          <a:xfrm>
            <a:off x="548640" y="2468880"/>
            <a:ext cx="4114800" cy="0"/>
          </a:xfrm>
          <a:prstGeom prst="straightConnector1">
            <a:avLst/>
          </a:prstGeom>
          <a:noFill/>
          <a:ln cap="flat" cmpd="sng" w="31750">
            <a:solidFill>
              <a:srgbClr val="1FBA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p19"/>
          <p:cNvSpPr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Questions, critiques, and curiosities — we'd love to hear them.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548640" y="3520440"/>
            <a:ext cx="10058400" cy="1325880"/>
          </a:xfrm>
          <a:prstGeom prst="rect">
            <a:avLst/>
          </a:prstGeom>
          <a:solidFill>
            <a:srgbClr val="142A45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9"/>
          <p:cNvSpPr/>
          <p:nvPr/>
        </p:nvSpPr>
        <p:spPr>
          <a:xfrm>
            <a:off x="548640" y="3520440"/>
            <a:ext cx="10058400" cy="54864"/>
          </a:xfrm>
          <a:prstGeom prst="rect">
            <a:avLst/>
          </a:prstGeom>
          <a:solidFill>
            <a:srgbClr val="1FBA9D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914400" y="3685032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EXPLORE THE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914400" y="3977640"/>
            <a:ext cx="9326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ramaseshu0.github.io/TIDE-HF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914400" y="44348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B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5A5B7"/>
                </a:solidFill>
                <a:latin typeface="Calibri"/>
                <a:ea typeface="Calibri"/>
                <a:cs typeface="Calibri"/>
                <a:sym typeface="Calibri"/>
              </a:rPr>
              <a:t>Live demo, architecture deep-dives, and our previous milestone presentations.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4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Team ROC  ·  </a:t>
            </a:r>
            <a:r>
              <a:rPr b="1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Max Pierson</a:t>
            </a:r>
            <a:r>
              <a:rPr b="0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Chinmaya Sri Rama Seshu Pasupuleti</a:t>
            </a:r>
            <a:r>
              <a:rPr b="0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400" u="none" cap="none" strike="noStrike">
                <a:solidFill>
                  <a:srgbClr val="1A2E47"/>
                </a:solidFill>
                <a:latin typeface="Calibri"/>
                <a:ea typeface="Calibri"/>
                <a:cs typeface="Calibri"/>
                <a:sym typeface="Calibri"/>
              </a:rPr>
              <a:t>Krishna Chaitanya Bhupathi Raju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548640" y="5440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F8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F8A"/>
                </a:solidFill>
                <a:latin typeface="Calibri"/>
                <a:ea typeface="Calibri"/>
                <a:cs typeface="Calibri"/>
                <a:sym typeface="Calibri"/>
              </a:rPr>
              <a:t>MS Data Science · University at Buffalo  ·  Client: QAS.AI  ·  Supervisor: Dr. Ciprian Ionita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B355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BA9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BA9D"/>
                </a:solidFill>
                <a:latin typeface="Calibri"/>
                <a:ea typeface="Calibri"/>
                <a:cs typeface="Calibri"/>
                <a:sym typeface="Calibri"/>
              </a:rPr>
              <a:t>Q   &amp;  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